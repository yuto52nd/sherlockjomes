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230" d="100"/>
          <a:sy n="230" d="100"/>
        </p:scale>
        <p:origin x="-5448" y="-11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F60D8-7756-44E1-7D7C-CB519E93CF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66DF77-F3BF-F787-4C9D-6A7D00D44C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96E126-077C-7614-D869-97949AD3D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D0E25-5DB8-471D-A76A-627DA246F623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CD158F-3081-554C-C7E4-D59704707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18C282-77F7-BA72-4B53-F1F043D06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C86F8-89FD-4E50-B8C9-477BB6C3EB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0264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DABF4-D9D1-CC62-7556-B873785D4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2282E0-BD13-1D21-E7AC-67F79353AC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095AE6-C7F9-C562-54A3-DE229D087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D0E25-5DB8-471D-A76A-627DA246F623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57E3FA-5101-CE21-8C3E-BA512F3B3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838DE3-7271-2069-22E6-197155653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C86F8-89FD-4E50-B8C9-477BB6C3EB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77538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22A6F-DBD7-380F-A2EF-8BA3AA08D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B1C239-7330-262C-410E-EA036E53C4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9FF32F-2BB1-6305-A33B-75C2B7885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D0E25-5DB8-471D-A76A-627DA246F623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EF8145-A492-71C2-10A7-F27AF0BEA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84098C-F004-3AC7-E0AE-559725905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C86F8-89FD-4E50-B8C9-477BB6C3EB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17195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81ED7-9002-AA74-6E94-2959F33F0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C7A76-14D3-5F55-5749-42542766AE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7740C0-A1EE-50D4-F59F-67EDC00024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7F6F1E-20EC-A608-C8C7-4DA32FDA2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D0E25-5DB8-471D-A76A-627DA246F623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723C13-4BFC-1575-B8C8-F29F32E98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4FFD74-5394-5AF5-F4CA-1D8680C29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C86F8-89FD-4E50-B8C9-477BB6C3EB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00683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A1C61-4543-76B9-EF67-7EA7E2335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7529D4-6E10-920C-0851-B159691BAB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41060E-F4CD-82D7-834C-B759D88233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83746A-D95F-7C6B-2A6E-9F6331D9B4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506B1F-F734-1055-A84F-4D8A3452F1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E4B438-7F2B-BB04-9AFB-76748258A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D0E25-5DB8-471D-A76A-627DA246F623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0B7AF4F-625F-1396-48C7-6F7B3B644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0E04E7-ED69-56D1-FF4B-9DBEF4846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C86F8-89FD-4E50-B8C9-477BB6C3EB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35628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5FE1C-F876-FCD7-18B8-2709D64CF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9FEF3C-DA86-1C6F-2DF6-AFF19F549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D0E25-5DB8-471D-A76A-627DA246F623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DD361E-2A38-1240-E147-1B6BCA20A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B9D39C-1C9A-64DA-BD70-2342919E3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C86F8-89FD-4E50-B8C9-477BB6C3EB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01246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07F3BA-ACEE-88F0-6998-A838E99DE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D0E25-5DB8-471D-A76A-627DA246F623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13C5E7-823D-0BCE-EE4A-EDFD245E1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FFF46D-D002-4176-8202-BFE32FCA3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C86F8-89FD-4E50-B8C9-477BB6C3EB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9937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01D5D-88EF-7DAA-9668-12FC83291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70E252-32A0-53E0-CEA0-03F57ABA77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D4F0BF-9760-5801-B1A7-179B634C2F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9CD9BB-B2C5-2841-983C-F0A354EBA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D0E25-5DB8-471D-A76A-627DA246F623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FE70BB-88ED-29E4-3579-68ABFAEB7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30B196-BB38-8D0E-7F09-09E29F6A1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C86F8-89FD-4E50-B8C9-477BB6C3EB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23149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80D68-B259-B893-8251-D7A2B1744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AC683C-A73A-DFA7-9B80-2BFDDBABEC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B80212-5513-2837-1EA5-EF401CEA0E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37CFD3-9E81-F1CF-A941-AD1A9E8C4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D0E25-5DB8-471D-A76A-627DA246F623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CB1DD8-8BC2-21AE-FAF9-38CFFD3C8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99832B-C79B-6B13-EF7F-7BE0C4EB3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C86F8-89FD-4E50-B8C9-477BB6C3EB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72501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ABF41-9DC0-4046-41EF-B23B8D22B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4CEAA2-F3A9-6977-3BD2-91D61FC5B5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2B2570-747E-72CD-34CE-0C65D4F33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D0E25-5DB8-471D-A76A-627DA246F623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44652-3B99-AD02-9840-41C4CFFA1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F7A9AC-3FA9-3A2B-35F3-D1E59FADD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C86F8-89FD-4E50-B8C9-477BB6C3EB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2067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5287F2-EAF6-781B-191C-D2A8A089CF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ECA05C-9325-76C4-F63C-EF3A7483D0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985E37-7CE3-8D31-9F3A-F2FBE53B5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D0E25-5DB8-471D-A76A-627DA246F623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6EA989-746F-E467-F817-6C0DC5687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973C16-8938-BAD3-F64C-49B17918A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C86F8-89FD-4E50-B8C9-477BB6C3EB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0871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7C5471-07EA-E848-0335-A59C2B147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913E50-6EFE-9EFB-5311-0290015B8C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235DC8-D5BC-140C-AF3F-4F576BD184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8D0E25-5DB8-471D-A76A-627DA246F623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B662BC-7905-39F9-6D91-562002584A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1AEAA4-719D-4903-61CB-DBEB4EBA08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8C86F8-89FD-4E50-B8C9-477BB6C3EB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62685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microsoft.com/office/2017/06/relationships/model3d" Target="../media/model3d1.glb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A Simplified, Yet Complex Solution (221B Baker Street) – Northern Dice">
            <a:extLst>
              <a:ext uri="{FF2B5EF4-FFF2-40B4-BE49-F238E27FC236}">
                <a16:creationId xmlns:a16="http://schemas.microsoft.com/office/drawing/2014/main" id="{4290FCE0-8FE1-91E6-E515-A8A4A069AC6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128"/>
          <a:stretch>
            <a:fillRect/>
          </a:stretch>
        </p:blipFill>
        <p:spPr bwMode="auto">
          <a:xfrm>
            <a:off x="-419330" y="6105960"/>
            <a:ext cx="2181198" cy="1089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A Simplified, Yet Complex Solution (221B Baker Street) – Northern Dice">
            <a:extLst>
              <a:ext uri="{FF2B5EF4-FFF2-40B4-BE49-F238E27FC236}">
                <a16:creationId xmlns:a16="http://schemas.microsoft.com/office/drawing/2014/main" id="{5D5746C1-C37C-03C5-A330-BA095E0983E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128"/>
          <a:stretch>
            <a:fillRect/>
          </a:stretch>
        </p:blipFill>
        <p:spPr bwMode="auto">
          <a:xfrm>
            <a:off x="6096000" y="6105960"/>
            <a:ext cx="2181198" cy="1089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A Simplified, Yet Complex Solution (221B Baker Street) – Northern Dice">
            <a:extLst>
              <a:ext uri="{FF2B5EF4-FFF2-40B4-BE49-F238E27FC236}">
                <a16:creationId xmlns:a16="http://schemas.microsoft.com/office/drawing/2014/main" id="{E7A855BD-70CD-F43D-6B78-A9E995C37CD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128"/>
          <a:stretch>
            <a:fillRect/>
          </a:stretch>
        </p:blipFill>
        <p:spPr bwMode="auto">
          <a:xfrm>
            <a:off x="3914802" y="6105960"/>
            <a:ext cx="2181198" cy="1089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A Simplified, Yet Complex Solution (221B Baker Street) – Northern Dice">
            <a:extLst>
              <a:ext uri="{FF2B5EF4-FFF2-40B4-BE49-F238E27FC236}">
                <a16:creationId xmlns:a16="http://schemas.microsoft.com/office/drawing/2014/main" id="{1C7764F5-AB97-6CF5-3147-40933D17B29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128"/>
          <a:stretch>
            <a:fillRect/>
          </a:stretch>
        </p:blipFill>
        <p:spPr bwMode="auto">
          <a:xfrm>
            <a:off x="1747736" y="6105958"/>
            <a:ext cx="2181198" cy="1089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 descr="A Simplified, Yet Complex Solution (221B Baker Street) – Northern Dice">
            <a:extLst>
              <a:ext uri="{FF2B5EF4-FFF2-40B4-BE49-F238E27FC236}">
                <a16:creationId xmlns:a16="http://schemas.microsoft.com/office/drawing/2014/main" id="{15EA0BC0-FEC2-218B-A253-3F68CF63C47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128"/>
          <a:stretch>
            <a:fillRect/>
          </a:stretch>
        </p:blipFill>
        <p:spPr bwMode="auto">
          <a:xfrm>
            <a:off x="8248934" y="6105957"/>
            <a:ext cx="2181198" cy="1089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" descr="A Simplified, Yet Complex Solution (221B Baker Street) – Northern Dice">
            <a:extLst>
              <a:ext uri="{FF2B5EF4-FFF2-40B4-BE49-F238E27FC236}">
                <a16:creationId xmlns:a16="http://schemas.microsoft.com/office/drawing/2014/main" id="{F64809D9-09C8-931F-266C-DD7143524AD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128"/>
          <a:stretch>
            <a:fillRect/>
          </a:stretch>
        </p:blipFill>
        <p:spPr bwMode="auto">
          <a:xfrm>
            <a:off x="10401868" y="6105960"/>
            <a:ext cx="2181198" cy="1089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6" descr="A Simplified, Yet Complex Solution (221B Baker Street) – Northern Dice">
            <a:extLst>
              <a:ext uri="{FF2B5EF4-FFF2-40B4-BE49-F238E27FC236}">
                <a16:creationId xmlns:a16="http://schemas.microsoft.com/office/drawing/2014/main" id="{D9B5AB82-4953-9D64-E41B-45E18A31ED3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128"/>
          <a:stretch>
            <a:fillRect/>
          </a:stretch>
        </p:blipFill>
        <p:spPr bwMode="auto">
          <a:xfrm>
            <a:off x="-419330" y="5016457"/>
            <a:ext cx="2181198" cy="1089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6" descr="A Simplified, Yet Complex Solution (221B Baker Street) – Northern Dice">
            <a:extLst>
              <a:ext uri="{FF2B5EF4-FFF2-40B4-BE49-F238E27FC236}">
                <a16:creationId xmlns:a16="http://schemas.microsoft.com/office/drawing/2014/main" id="{A54448BC-15CA-AF04-FD37-6B38F9F5EBB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128"/>
          <a:stretch>
            <a:fillRect/>
          </a:stretch>
        </p:blipFill>
        <p:spPr bwMode="auto">
          <a:xfrm>
            <a:off x="6096000" y="5016457"/>
            <a:ext cx="2181198" cy="1089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 descr="A Simplified, Yet Complex Solution (221B Baker Street) – Northern Dice">
            <a:extLst>
              <a:ext uri="{FF2B5EF4-FFF2-40B4-BE49-F238E27FC236}">
                <a16:creationId xmlns:a16="http://schemas.microsoft.com/office/drawing/2014/main" id="{11A3D020-31E1-9949-171F-1701A66C63A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128"/>
          <a:stretch>
            <a:fillRect/>
          </a:stretch>
        </p:blipFill>
        <p:spPr bwMode="auto">
          <a:xfrm>
            <a:off x="3914802" y="5016457"/>
            <a:ext cx="2181198" cy="1089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6" descr="A Simplified, Yet Complex Solution (221B Baker Street) – Northern Dice">
            <a:extLst>
              <a:ext uri="{FF2B5EF4-FFF2-40B4-BE49-F238E27FC236}">
                <a16:creationId xmlns:a16="http://schemas.microsoft.com/office/drawing/2014/main" id="{C5D8FFB3-AA58-1FEF-E2CE-DC260426CA2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128"/>
          <a:stretch>
            <a:fillRect/>
          </a:stretch>
        </p:blipFill>
        <p:spPr bwMode="auto">
          <a:xfrm>
            <a:off x="1747736" y="5016455"/>
            <a:ext cx="2181198" cy="1089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6" descr="A Simplified, Yet Complex Solution (221B Baker Street) – Northern Dice">
            <a:extLst>
              <a:ext uri="{FF2B5EF4-FFF2-40B4-BE49-F238E27FC236}">
                <a16:creationId xmlns:a16="http://schemas.microsoft.com/office/drawing/2014/main" id="{6458E17B-B5C7-0353-6C87-80DF230CB3A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128"/>
          <a:stretch>
            <a:fillRect/>
          </a:stretch>
        </p:blipFill>
        <p:spPr bwMode="auto">
          <a:xfrm>
            <a:off x="8248934" y="5016454"/>
            <a:ext cx="2181198" cy="1089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6" descr="A Simplified, Yet Complex Solution (221B Baker Street) – Northern Dice">
            <a:extLst>
              <a:ext uri="{FF2B5EF4-FFF2-40B4-BE49-F238E27FC236}">
                <a16:creationId xmlns:a16="http://schemas.microsoft.com/office/drawing/2014/main" id="{7885F9F1-A243-3B16-657A-68CD3AA8216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128"/>
          <a:stretch>
            <a:fillRect/>
          </a:stretch>
        </p:blipFill>
        <p:spPr bwMode="auto">
          <a:xfrm>
            <a:off x="10401868" y="5016457"/>
            <a:ext cx="2181198" cy="1089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6" descr="A Simplified, Yet Complex Solution (221B Baker Street) – Northern Dice">
            <a:extLst>
              <a:ext uri="{FF2B5EF4-FFF2-40B4-BE49-F238E27FC236}">
                <a16:creationId xmlns:a16="http://schemas.microsoft.com/office/drawing/2014/main" id="{89DBCA8D-8A02-91F2-4A51-F89BD7E6DAB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128"/>
          <a:stretch>
            <a:fillRect/>
          </a:stretch>
        </p:blipFill>
        <p:spPr bwMode="auto">
          <a:xfrm>
            <a:off x="-391065" y="3926952"/>
            <a:ext cx="2181198" cy="1089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6" descr="A Simplified, Yet Complex Solution (221B Baker Street) – Northern Dice">
            <a:extLst>
              <a:ext uri="{FF2B5EF4-FFF2-40B4-BE49-F238E27FC236}">
                <a16:creationId xmlns:a16="http://schemas.microsoft.com/office/drawing/2014/main" id="{9D31A06E-7736-EFF6-9F65-8D8CF1B2BD4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128"/>
          <a:stretch>
            <a:fillRect/>
          </a:stretch>
        </p:blipFill>
        <p:spPr bwMode="auto">
          <a:xfrm>
            <a:off x="6124265" y="3926952"/>
            <a:ext cx="2181198" cy="1089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8" descr="A Simplified, Yet Complex Solution (221B Baker Street) – Northern Dice">
            <a:extLst>
              <a:ext uri="{FF2B5EF4-FFF2-40B4-BE49-F238E27FC236}">
                <a16:creationId xmlns:a16="http://schemas.microsoft.com/office/drawing/2014/main" id="{311587BE-E47B-2CB9-80ED-2EC101E8799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128"/>
          <a:stretch>
            <a:fillRect/>
          </a:stretch>
        </p:blipFill>
        <p:spPr bwMode="auto">
          <a:xfrm>
            <a:off x="3943067" y="3926952"/>
            <a:ext cx="2181198" cy="1089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6" descr="A Simplified, Yet Complex Solution (221B Baker Street) – Northern Dice">
            <a:extLst>
              <a:ext uri="{FF2B5EF4-FFF2-40B4-BE49-F238E27FC236}">
                <a16:creationId xmlns:a16="http://schemas.microsoft.com/office/drawing/2014/main" id="{50657547-0183-A7FD-8A1E-C0056120C54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128"/>
          <a:stretch>
            <a:fillRect/>
          </a:stretch>
        </p:blipFill>
        <p:spPr bwMode="auto">
          <a:xfrm>
            <a:off x="1776001" y="3926950"/>
            <a:ext cx="2181198" cy="1089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6" descr="A Simplified, Yet Complex Solution (221B Baker Street) – Northern Dice">
            <a:extLst>
              <a:ext uri="{FF2B5EF4-FFF2-40B4-BE49-F238E27FC236}">
                <a16:creationId xmlns:a16="http://schemas.microsoft.com/office/drawing/2014/main" id="{3B7274B7-3C76-E63D-A4BD-F620C1A441A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128"/>
          <a:stretch>
            <a:fillRect/>
          </a:stretch>
        </p:blipFill>
        <p:spPr bwMode="auto">
          <a:xfrm>
            <a:off x="8277199" y="3926949"/>
            <a:ext cx="2181198" cy="1089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6" descr="A Simplified, Yet Complex Solution (221B Baker Street) – Northern Dice">
            <a:extLst>
              <a:ext uri="{FF2B5EF4-FFF2-40B4-BE49-F238E27FC236}">
                <a16:creationId xmlns:a16="http://schemas.microsoft.com/office/drawing/2014/main" id="{07B184E7-D1F7-365C-F64A-76EBD892C9F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128"/>
          <a:stretch>
            <a:fillRect/>
          </a:stretch>
        </p:blipFill>
        <p:spPr bwMode="auto">
          <a:xfrm>
            <a:off x="10430133" y="3926952"/>
            <a:ext cx="2181198" cy="1089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6" descr="A Simplified, Yet Complex Solution (221B Baker Street) – Northern Dice">
            <a:extLst>
              <a:ext uri="{FF2B5EF4-FFF2-40B4-BE49-F238E27FC236}">
                <a16:creationId xmlns:a16="http://schemas.microsoft.com/office/drawing/2014/main" id="{C1AF6539-90A9-0C52-63E2-D7DCA80D922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128"/>
          <a:stretch>
            <a:fillRect/>
          </a:stretch>
        </p:blipFill>
        <p:spPr bwMode="auto">
          <a:xfrm>
            <a:off x="-419330" y="2837438"/>
            <a:ext cx="2181198" cy="1089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6" descr="A Simplified, Yet Complex Solution (221B Baker Street) – Northern Dice">
            <a:extLst>
              <a:ext uri="{FF2B5EF4-FFF2-40B4-BE49-F238E27FC236}">
                <a16:creationId xmlns:a16="http://schemas.microsoft.com/office/drawing/2014/main" id="{8943E528-595A-6C65-F384-C1E1C4CA1BB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128"/>
          <a:stretch>
            <a:fillRect/>
          </a:stretch>
        </p:blipFill>
        <p:spPr bwMode="auto">
          <a:xfrm>
            <a:off x="6096000" y="2837438"/>
            <a:ext cx="2181198" cy="1089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4" descr="A Simplified, Yet Complex Solution (221B Baker Street) – Northern Dice">
            <a:extLst>
              <a:ext uri="{FF2B5EF4-FFF2-40B4-BE49-F238E27FC236}">
                <a16:creationId xmlns:a16="http://schemas.microsoft.com/office/drawing/2014/main" id="{E97058A1-A05D-8C5B-D8C6-2C832A78A25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128"/>
          <a:stretch>
            <a:fillRect/>
          </a:stretch>
        </p:blipFill>
        <p:spPr bwMode="auto">
          <a:xfrm>
            <a:off x="3914802" y="2837438"/>
            <a:ext cx="2181198" cy="1089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6" descr="A Simplified, Yet Complex Solution (221B Baker Street) – Northern Dice">
            <a:extLst>
              <a:ext uri="{FF2B5EF4-FFF2-40B4-BE49-F238E27FC236}">
                <a16:creationId xmlns:a16="http://schemas.microsoft.com/office/drawing/2014/main" id="{4EB1BCBE-092B-DFE6-1285-7A8B951BDE7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128"/>
          <a:stretch>
            <a:fillRect/>
          </a:stretch>
        </p:blipFill>
        <p:spPr bwMode="auto">
          <a:xfrm>
            <a:off x="1747736" y="2837436"/>
            <a:ext cx="2181198" cy="1089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6" descr="A Simplified, Yet Complex Solution (221B Baker Street) – Northern Dice">
            <a:extLst>
              <a:ext uri="{FF2B5EF4-FFF2-40B4-BE49-F238E27FC236}">
                <a16:creationId xmlns:a16="http://schemas.microsoft.com/office/drawing/2014/main" id="{BE54007C-DFDA-F30C-5B08-AD6EC46357B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128"/>
          <a:stretch>
            <a:fillRect/>
          </a:stretch>
        </p:blipFill>
        <p:spPr bwMode="auto">
          <a:xfrm>
            <a:off x="8248934" y="2837435"/>
            <a:ext cx="2181198" cy="1089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6" descr="A Simplified, Yet Complex Solution (221B Baker Street) – Northern Dice">
            <a:extLst>
              <a:ext uri="{FF2B5EF4-FFF2-40B4-BE49-F238E27FC236}">
                <a16:creationId xmlns:a16="http://schemas.microsoft.com/office/drawing/2014/main" id="{2681A871-37CC-428F-526D-13E91D8EE70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128"/>
          <a:stretch>
            <a:fillRect/>
          </a:stretch>
        </p:blipFill>
        <p:spPr bwMode="auto">
          <a:xfrm>
            <a:off x="10401868" y="2837438"/>
            <a:ext cx="2181198" cy="1089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6" descr="A Simplified, Yet Complex Solution (221B Baker Street) – Northern Dice">
            <a:extLst>
              <a:ext uri="{FF2B5EF4-FFF2-40B4-BE49-F238E27FC236}">
                <a16:creationId xmlns:a16="http://schemas.microsoft.com/office/drawing/2014/main" id="{C4AAF9D3-157C-CF43-1A0E-AC99DBAE72C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128"/>
          <a:stretch>
            <a:fillRect/>
          </a:stretch>
        </p:blipFill>
        <p:spPr bwMode="auto">
          <a:xfrm>
            <a:off x="-419330" y="1747913"/>
            <a:ext cx="2181198" cy="1089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6" descr="A Simplified, Yet Complex Solution (221B Baker Street) – Northern Dice">
            <a:extLst>
              <a:ext uri="{FF2B5EF4-FFF2-40B4-BE49-F238E27FC236}">
                <a16:creationId xmlns:a16="http://schemas.microsoft.com/office/drawing/2014/main" id="{5BABD5CD-FFC9-4A53-A4FD-466FB85F8B5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128"/>
          <a:stretch>
            <a:fillRect/>
          </a:stretch>
        </p:blipFill>
        <p:spPr bwMode="auto">
          <a:xfrm>
            <a:off x="6096000" y="1747913"/>
            <a:ext cx="2181198" cy="1089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30" descr="A Simplified, Yet Complex Solution (221B Baker Street) – Northern Dice">
            <a:extLst>
              <a:ext uri="{FF2B5EF4-FFF2-40B4-BE49-F238E27FC236}">
                <a16:creationId xmlns:a16="http://schemas.microsoft.com/office/drawing/2014/main" id="{370150E6-0C1A-C9C8-054F-FE655168059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128"/>
          <a:stretch>
            <a:fillRect/>
          </a:stretch>
        </p:blipFill>
        <p:spPr bwMode="auto">
          <a:xfrm>
            <a:off x="3914802" y="1747913"/>
            <a:ext cx="2181198" cy="1089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6" descr="A Simplified, Yet Complex Solution (221B Baker Street) – Northern Dice">
            <a:extLst>
              <a:ext uri="{FF2B5EF4-FFF2-40B4-BE49-F238E27FC236}">
                <a16:creationId xmlns:a16="http://schemas.microsoft.com/office/drawing/2014/main" id="{BF37E8C3-D355-3735-B8C9-4ED67285287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128"/>
          <a:stretch>
            <a:fillRect/>
          </a:stretch>
        </p:blipFill>
        <p:spPr bwMode="auto">
          <a:xfrm>
            <a:off x="1747736" y="1747911"/>
            <a:ext cx="2181198" cy="1089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6" descr="A Simplified, Yet Complex Solution (221B Baker Street) – Northern Dice">
            <a:extLst>
              <a:ext uri="{FF2B5EF4-FFF2-40B4-BE49-F238E27FC236}">
                <a16:creationId xmlns:a16="http://schemas.microsoft.com/office/drawing/2014/main" id="{4B6BACC3-2E90-8411-1303-80F2B23ACB0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128"/>
          <a:stretch>
            <a:fillRect/>
          </a:stretch>
        </p:blipFill>
        <p:spPr bwMode="auto">
          <a:xfrm>
            <a:off x="8248934" y="1747910"/>
            <a:ext cx="2181198" cy="1089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6" descr="A Simplified, Yet Complex Solution (221B Baker Street) – Northern Dice">
            <a:extLst>
              <a:ext uri="{FF2B5EF4-FFF2-40B4-BE49-F238E27FC236}">
                <a16:creationId xmlns:a16="http://schemas.microsoft.com/office/drawing/2014/main" id="{89CEA0FC-1F66-B50F-D623-F6DCD16D0C9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128"/>
          <a:stretch>
            <a:fillRect/>
          </a:stretch>
        </p:blipFill>
        <p:spPr bwMode="auto">
          <a:xfrm>
            <a:off x="10401868" y="1747913"/>
            <a:ext cx="2181198" cy="1089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6" descr="A Simplified, Yet Complex Solution (221B Baker Street) – Northern Dice">
            <a:extLst>
              <a:ext uri="{FF2B5EF4-FFF2-40B4-BE49-F238E27FC236}">
                <a16:creationId xmlns:a16="http://schemas.microsoft.com/office/drawing/2014/main" id="{EF0537CB-DEBF-BB45-9BBF-036F638685F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128"/>
          <a:stretch>
            <a:fillRect/>
          </a:stretch>
        </p:blipFill>
        <p:spPr bwMode="auto">
          <a:xfrm>
            <a:off x="-419330" y="658385"/>
            <a:ext cx="2181198" cy="1089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6" descr="A Simplified, Yet Complex Solution (221B Baker Street) – Northern Dice">
            <a:extLst>
              <a:ext uri="{FF2B5EF4-FFF2-40B4-BE49-F238E27FC236}">
                <a16:creationId xmlns:a16="http://schemas.microsoft.com/office/drawing/2014/main" id="{8120EBE3-1F24-2865-9C69-574BE31C028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128"/>
          <a:stretch>
            <a:fillRect/>
          </a:stretch>
        </p:blipFill>
        <p:spPr bwMode="auto">
          <a:xfrm>
            <a:off x="6096000" y="658385"/>
            <a:ext cx="2181198" cy="1089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36" descr="A Simplified, Yet Complex Solution (221B Baker Street) – Northern Dice">
            <a:extLst>
              <a:ext uri="{FF2B5EF4-FFF2-40B4-BE49-F238E27FC236}">
                <a16:creationId xmlns:a16="http://schemas.microsoft.com/office/drawing/2014/main" id="{0CEC27A8-DC31-EFB9-76F5-4EB5BF451B3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128"/>
          <a:stretch>
            <a:fillRect/>
          </a:stretch>
        </p:blipFill>
        <p:spPr bwMode="auto">
          <a:xfrm>
            <a:off x="3914802" y="658385"/>
            <a:ext cx="2181198" cy="1089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6" descr="A Simplified, Yet Complex Solution (221B Baker Street) – Northern Dice">
            <a:extLst>
              <a:ext uri="{FF2B5EF4-FFF2-40B4-BE49-F238E27FC236}">
                <a16:creationId xmlns:a16="http://schemas.microsoft.com/office/drawing/2014/main" id="{A05B283E-16F3-2B6E-5AD9-7D6615E5D84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128"/>
          <a:stretch>
            <a:fillRect/>
          </a:stretch>
        </p:blipFill>
        <p:spPr bwMode="auto">
          <a:xfrm>
            <a:off x="1747736" y="658383"/>
            <a:ext cx="2181198" cy="1089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6" descr="A Simplified, Yet Complex Solution (221B Baker Street) – Northern Dice">
            <a:extLst>
              <a:ext uri="{FF2B5EF4-FFF2-40B4-BE49-F238E27FC236}">
                <a16:creationId xmlns:a16="http://schemas.microsoft.com/office/drawing/2014/main" id="{CECF991C-075A-8A8D-1530-E1D77EFA16C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128"/>
          <a:stretch>
            <a:fillRect/>
          </a:stretch>
        </p:blipFill>
        <p:spPr bwMode="auto">
          <a:xfrm>
            <a:off x="8248934" y="658382"/>
            <a:ext cx="2181198" cy="1089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6" descr="A Simplified, Yet Complex Solution (221B Baker Street) – Northern Dice">
            <a:extLst>
              <a:ext uri="{FF2B5EF4-FFF2-40B4-BE49-F238E27FC236}">
                <a16:creationId xmlns:a16="http://schemas.microsoft.com/office/drawing/2014/main" id="{FD026C55-9938-2E1A-E23C-989EDCEF503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128"/>
          <a:stretch>
            <a:fillRect/>
          </a:stretch>
        </p:blipFill>
        <p:spPr bwMode="auto">
          <a:xfrm>
            <a:off x="10401868" y="658385"/>
            <a:ext cx="2181198" cy="1089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6" descr="A Simplified, Yet Complex Solution (221B Baker Street) – Northern Dice">
            <a:extLst>
              <a:ext uri="{FF2B5EF4-FFF2-40B4-BE49-F238E27FC236}">
                <a16:creationId xmlns:a16="http://schemas.microsoft.com/office/drawing/2014/main" id="{A08D74A4-5A76-6E9B-016E-AACB153891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128"/>
          <a:stretch>
            <a:fillRect/>
          </a:stretch>
        </p:blipFill>
        <p:spPr bwMode="auto">
          <a:xfrm>
            <a:off x="-419330" y="-431146"/>
            <a:ext cx="2181198" cy="1089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6" descr="A Simplified, Yet Complex Solution (221B Baker Street) – Northern Dice">
            <a:extLst>
              <a:ext uri="{FF2B5EF4-FFF2-40B4-BE49-F238E27FC236}">
                <a16:creationId xmlns:a16="http://schemas.microsoft.com/office/drawing/2014/main" id="{0933AE0B-6C91-5CE8-DB93-B418B3C3B3E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128"/>
          <a:stretch>
            <a:fillRect/>
          </a:stretch>
        </p:blipFill>
        <p:spPr bwMode="auto">
          <a:xfrm>
            <a:off x="6096000" y="-431146"/>
            <a:ext cx="2181198" cy="1089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42" descr="A Simplified, Yet Complex Solution (221B Baker Street) – Northern Dice">
            <a:extLst>
              <a:ext uri="{FF2B5EF4-FFF2-40B4-BE49-F238E27FC236}">
                <a16:creationId xmlns:a16="http://schemas.microsoft.com/office/drawing/2014/main" id="{C4FF1D7C-9EF2-4CC5-E29F-00B99F83282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128"/>
          <a:stretch>
            <a:fillRect/>
          </a:stretch>
        </p:blipFill>
        <p:spPr bwMode="auto">
          <a:xfrm>
            <a:off x="3914802" y="-431146"/>
            <a:ext cx="2181198" cy="1089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6" descr="A Simplified, Yet Complex Solution (221B Baker Street) – Northern Dice">
            <a:extLst>
              <a:ext uri="{FF2B5EF4-FFF2-40B4-BE49-F238E27FC236}">
                <a16:creationId xmlns:a16="http://schemas.microsoft.com/office/drawing/2014/main" id="{FE1C915D-F906-521E-1DA1-9B11C5BF546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128"/>
          <a:stretch>
            <a:fillRect/>
          </a:stretch>
        </p:blipFill>
        <p:spPr bwMode="auto">
          <a:xfrm>
            <a:off x="1747736" y="-431148"/>
            <a:ext cx="2181198" cy="1089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6" descr="A Simplified, Yet Complex Solution (221B Baker Street) – Northern Dice">
            <a:extLst>
              <a:ext uri="{FF2B5EF4-FFF2-40B4-BE49-F238E27FC236}">
                <a16:creationId xmlns:a16="http://schemas.microsoft.com/office/drawing/2014/main" id="{5D2B6A99-0AE9-A13E-0F2A-D6AA2EDF714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128"/>
          <a:stretch>
            <a:fillRect/>
          </a:stretch>
        </p:blipFill>
        <p:spPr bwMode="auto">
          <a:xfrm>
            <a:off x="8248934" y="-431149"/>
            <a:ext cx="2181198" cy="1089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" name="Picture 6" descr="A Simplified, Yet Complex Solution (221B Baker Street) – Northern Dice">
            <a:extLst>
              <a:ext uri="{FF2B5EF4-FFF2-40B4-BE49-F238E27FC236}">
                <a16:creationId xmlns:a16="http://schemas.microsoft.com/office/drawing/2014/main" id="{24403AD8-3A13-2788-BAFB-ACDDB8F85C0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128"/>
          <a:stretch>
            <a:fillRect/>
          </a:stretch>
        </p:blipFill>
        <p:spPr bwMode="auto">
          <a:xfrm>
            <a:off x="10401868" y="-431146"/>
            <a:ext cx="2181198" cy="1089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221b Baker Street Board Game Review">
            <a:extLst>
              <a:ext uri="{FF2B5EF4-FFF2-40B4-BE49-F238E27FC236}">
                <a16:creationId xmlns:a16="http://schemas.microsoft.com/office/drawing/2014/main" id="{A27B1E10-D744-FFC9-2CE6-5526158C2B6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19" t="6388" r="7064" b="5834"/>
          <a:stretch>
            <a:fillRect/>
          </a:stretch>
        </p:blipFill>
        <p:spPr bwMode="auto">
          <a:xfrm rot="10800000">
            <a:off x="2634446" y="0"/>
            <a:ext cx="6923108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8" name="3D Model 47" descr="Dice 6 Sided 16mm">
                <a:extLst>
                  <a:ext uri="{FF2B5EF4-FFF2-40B4-BE49-F238E27FC236}">
                    <a16:creationId xmlns:a16="http://schemas.microsoft.com/office/drawing/2014/main" id="{DCBE7504-98B0-E532-260B-40525FEA2C4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499441441"/>
                  </p:ext>
                </p:extLst>
              </p:nvPr>
            </p:nvGraphicFramePr>
            <p:xfrm>
              <a:off x="10029371" y="2546889"/>
              <a:ext cx="1619665" cy="1764220"/>
            </p:xfrm>
            <a:graphic>
              <a:graphicData uri="http://schemas.microsoft.com/office/drawing/2017/model3d">
                <am3d:model3d r:embed="rId4">
                  <am3d:spPr>
                    <a:xfrm>
                      <a:off x="0" y="0"/>
                      <a:ext cx="1619665" cy="1764220"/>
                    </a:xfrm>
                    <a:prstGeom prst="rect">
                      <a:avLst/>
                    </a:prstGeom>
                  </am3d:spPr>
                  <am3d:camera>
                    <am3d:pos x="0" y="0" z="8146919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6265663" d="1000000"/>
                    <am3d:preTrans dx="-34" dy="-17999946" dz="55"/>
                    <am3d:scale>
                      <am3d:sx n="1000000" d="1000000"/>
                      <am3d:sy n="1000000" d="1000000"/>
                      <am3d:sz n="1000000" d="1000000"/>
                    </am3d:scale>
                    <am3d:rot ax="2801973" ay="1743676" az="1636130"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1849638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8" name="3D Model 47" descr="Dice 6 Sided 16mm">
                <a:extLst>
                  <a:ext uri="{FF2B5EF4-FFF2-40B4-BE49-F238E27FC236}">
                    <a16:creationId xmlns:a16="http://schemas.microsoft.com/office/drawing/2014/main" id="{DCBE7504-98B0-E532-260B-40525FEA2C4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029371" y="2546889"/>
                <a:ext cx="1619665" cy="1764220"/>
              </a:xfrm>
              <a:prstGeom prst="rect">
                <a:avLst/>
              </a:prstGeom>
            </p:spPr>
          </p:pic>
        </mc:Fallback>
      </mc:AlternateContent>
      <p:pic>
        <p:nvPicPr>
          <p:cNvPr id="1036" name="Picture 12" descr="A Simplified, Yet Complex Solution (221B Baker Street) – Northern Dice">
            <a:extLst>
              <a:ext uri="{FF2B5EF4-FFF2-40B4-BE49-F238E27FC236}">
                <a16:creationId xmlns:a16="http://schemas.microsoft.com/office/drawing/2014/main" id="{348723EF-B063-18CF-248B-22907099C5F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24" t="2017" r="13441" b="75968"/>
          <a:stretch>
            <a:fillRect/>
          </a:stretch>
        </p:blipFill>
        <p:spPr bwMode="auto">
          <a:xfrm>
            <a:off x="9747311" y="6215079"/>
            <a:ext cx="2181198" cy="435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9" name="Oval 48">
            <a:extLst>
              <a:ext uri="{FF2B5EF4-FFF2-40B4-BE49-F238E27FC236}">
                <a16:creationId xmlns:a16="http://schemas.microsoft.com/office/drawing/2014/main" id="{753886DF-3940-436E-7CEC-ACA041EAEA84}"/>
              </a:ext>
            </a:extLst>
          </p:cNvPr>
          <p:cNvSpPr/>
          <p:nvPr/>
        </p:nvSpPr>
        <p:spPr>
          <a:xfrm>
            <a:off x="5369456" y="1276739"/>
            <a:ext cx="254727" cy="255600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1CD5A7EA-CF41-929F-8C69-F29B066BE4E3}"/>
              </a:ext>
            </a:extLst>
          </p:cNvPr>
          <p:cNvSpPr/>
          <p:nvPr/>
        </p:nvSpPr>
        <p:spPr>
          <a:xfrm>
            <a:off x="5954503" y="3567370"/>
            <a:ext cx="254727" cy="2556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EF095C0B-247A-6FDB-BEB7-5CC33CADDAA8}"/>
              </a:ext>
            </a:extLst>
          </p:cNvPr>
          <p:cNvSpPr/>
          <p:nvPr/>
        </p:nvSpPr>
        <p:spPr>
          <a:xfrm>
            <a:off x="3639271" y="5016446"/>
            <a:ext cx="254727" cy="2556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694F048D-8431-90C8-9AD9-470955B331FC}"/>
              </a:ext>
            </a:extLst>
          </p:cNvPr>
          <p:cNvSpPr/>
          <p:nvPr/>
        </p:nvSpPr>
        <p:spPr>
          <a:xfrm>
            <a:off x="7368364" y="2709612"/>
            <a:ext cx="254727" cy="255600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42" name="Picture 18" descr="Sherlock Logo Transparent">
            <a:extLst>
              <a:ext uri="{FF2B5EF4-FFF2-40B4-BE49-F238E27FC236}">
                <a16:creationId xmlns:a16="http://schemas.microsoft.com/office/drawing/2014/main" id="{3788A75F-EC41-2B4F-31BB-BFEFDC44BB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6767" y="5045062"/>
            <a:ext cx="198368" cy="198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Picture 18" descr="Sherlock Logo Transparent">
            <a:extLst>
              <a:ext uri="{FF2B5EF4-FFF2-40B4-BE49-F238E27FC236}">
                <a16:creationId xmlns:a16="http://schemas.microsoft.com/office/drawing/2014/main" id="{4F39A12A-9BF1-4210-4C23-2A3C8F45D5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1055" y="3589495"/>
            <a:ext cx="198368" cy="198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" name="Picture 18" descr="Sherlock Logo Transparent">
            <a:extLst>
              <a:ext uri="{FF2B5EF4-FFF2-40B4-BE49-F238E27FC236}">
                <a16:creationId xmlns:a16="http://schemas.microsoft.com/office/drawing/2014/main" id="{68D73EB4-9A09-8C9E-0828-9C69493873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635" y="1305355"/>
            <a:ext cx="198368" cy="198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" name="Picture 18" descr="Sherlock Logo Transparent">
            <a:extLst>
              <a:ext uri="{FF2B5EF4-FFF2-40B4-BE49-F238E27FC236}">
                <a16:creationId xmlns:a16="http://schemas.microsoft.com/office/drawing/2014/main" id="{BAD65B20-43B9-5E45-8B84-A205538B89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4620" y="2738223"/>
            <a:ext cx="198368" cy="198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08621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 Godfrey</dc:creator>
  <cp:lastModifiedBy>Ben Godfrey</cp:lastModifiedBy>
  <cp:revision>1</cp:revision>
  <dcterms:created xsi:type="dcterms:W3CDTF">2026-01-15T15:43:43Z</dcterms:created>
  <dcterms:modified xsi:type="dcterms:W3CDTF">2026-01-15T16:29:25Z</dcterms:modified>
</cp:coreProperties>
</file>